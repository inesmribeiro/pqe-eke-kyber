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57" r:id="rId5"/>
    <p:sldId id="389" r:id="rId6"/>
    <p:sldId id="384" r:id="rId7"/>
    <p:sldId id="396" r:id="rId8"/>
    <p:sldId id="397" r:id="rId9"/>
    <p:sldId id="398" r:id="rId10"/>
    <p:sldId id="392" r:id="rId11"/>
    <p:sldId id="399" r:id="rId12"/>
    <p:sldId id="400" r:id="rId13"/>
    <p:sldId id="268" r:id="rId14"/>
    <p:sldId id="401" r:id="rId15"/>
    <p:sldId id="391" r:id="rId16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C3D"/>
    <a:srgbClr val="CCE8DA"/>
    <a:srgbClr val="100F1C"/>
    <a:srgbClr val="161E42"/>
    <a:srgbClr val="1C3D73"/>
    <a:srgbClr val="373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3725" autoAdjust="0"/>
  </p:normalViewPr>
  <p:slideViewPr>
    <p:cSldViewPr snapToGrid="0">
      <p:cViewPr varScale="1">
        <p:scale>
          <a:sx n="83" d="100"/>
          <a:sy n="83" d="100"/>
        </p:scale>
        <p:origin x="1722" y="54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4" d="100"/>
          <a:sy n="124" d="100"/>
        </p:scale>
        <p:origin x="495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24227C-3F79-4894-AF29-54EEA2F15D74}" type="datetime1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A83782-9536-4DB3-B57F-39CC12543AF1}" type="datetime1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título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1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DA19AF2-C80C-49F4-A598-86BDB16C8F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53D44CF9-213B-4D28-B0A4-B7B434E666D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3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3738432-2612-4F6E-9AF1-C8E7F82832B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14F16-00DF-528D-EE84-06304FB86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74C67BD-9CBF-997B-5A64-DF8F405D1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F4BED16-5E1C-B934-2EC8-5388EAC5F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59C8FB1-E79E-56C9-61F3-13DE5D1CE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4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F3B8614-19EB-01DF-3A5A-763CF6B96D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780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6314-F4B3-9DE5-05D4-B4C8DFE2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EC80F6B-6FBC-EF4B-92F1-B9246BEED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33E51E9-D7DD-AD9F-F517-F29E70D02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31659EB-7949-E649-3411-7051D7F0B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5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A0EB6B0-CA2F-6B81-0E27-9F49A66F394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1268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EFE4-A2F1-8126-8CD8-5E1C88ED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A8A976D-9824-D954-836E-54A4A8815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88106BD-3538-DEC4-7944-7499947D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D4F5249-C67E-FB58-3BF1-4DCCF15F2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6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5B2CB31-67B7-29EC-9426-D4547D0FD1D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1073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17D2-A7C2-8514-B625-74F553A0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CC5B499-A034-9AA7-E7C7-1E54ED470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A46679-0713-C80B-BF37-DB2816F94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9004452-6C44-2AD7-2A2B-6F945B9F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8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7D271E1-D905-FF1A-E416-73BC46941D5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979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A9F7-D2BF-AA6F-6FC6-6AE1A51E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7D34B9A-EA6F-3E25-3EAC-4ED8DEA5C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1E547C-2FE7-6EC0-1DAC-AB74001E6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AF3BC7-B296-AC30-7CEC-549C857EF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9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E9EB270-B2AA-7231-E31C-74BBD1A11C5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4223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10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FA1A291-13DC-4E62-BA46-64102436C2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5DED718D-ECA9-43FE-A60A-2B1EAFB35CEE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33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1EB1-A7F7-1B6E-9B06-EAB31588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C342E27-ADE6-C0E2-B77D-BF3E4514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9CE781E-4705-8232-DCB8-92B0CA64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59F40F-43F6-AFB4-AAA9-BD507C02A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11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BAD63AA-31A9-BC59-5BC1-68CBBDF7631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24/02/2026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713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PT" sz="4800"/>
              <a:t>3DFlutuante</a:t>
            </a:r>
          </a:p>
        </p:txBody>
      </p:sp>
      <p:sp>
        <p:nvSpPr>
          <p:cNvPr id="14" name="Marcador de Posição d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PT"/>
              <a:t>Clique para adicionar um título</a:t>
            </a: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PT" sz="1600"/>
              <a:t>Clique para adicionar texto</a:t>
            </a:r>
          </a:p>
        </p:txBody>
      </p:sp>
      <p:sp>
        <p:nvSpPr>
          <p:cNvPr id="17" name="Marcador de Posição d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2" name="Marcador de Posição d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5" name="Marcador de Posição d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12" name="Marcador de Posição d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18" name="Marcador de Posição d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19" name="Marcador de Posição d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0" name="Marcador de Posição d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Marcador de Posição de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c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PT">
                <a:solidFill>
                  <a:schemeClr val="tx1">
                    <a:alpha val="60000"/>
                  </a:schemeClr>
                </a:solidFill>
              </a:rPr>
              <a:t>Clique para editar o estilo de subtítulo do Modelo Global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c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PT">
                <a:solidFill>
                  <a:schemeClr val="tx1">
                    <a:alpha val="60000"/>
                  </a:schemeClr>
                </a:solidFill>
              </a:rPr>
              <a:t>Clique para editar o estilo de subtítulo do Modelo Global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Cronológica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dirty="0"/>
            </a:lvl1pPr>
          </a:lstStyle>
          <a:p>
            <a:pPr lvl="0" rtl="0">
              <a:lnSpc>
                <a:spcPct val="100000"/>
              </a:lnSpc>
            </a:pPr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7" name="Marcador de Posição de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15" name="Marcador de Posição d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P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PT"/>
              <a:t>Equipa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56" name="Marcador de Posição d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57" name="Marcador de Posição d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58" name="Marcador de Posição d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59" name="Marcador de Posição d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63" name="Marcador de Posição do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1" name="Marcador de Posição do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5" name="Marcador de Posição do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4" name="Marcador de Posição do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7" name="Marcador de Posição do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6" name="Marcador de Posição do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9" name="Marcador de Posição do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8" name="Marcador de Posição do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Título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e 2 colunas (diapositivo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údo em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PT"/>
              <a:t>Clique para editar o estilo de título do Modelo Global</a:t>
            </a:r>
          </a:p>
        </p:txBody>
      </p:sp>
      <p:sp>
        <p:nvSpPr>
          <p:cNvPr id="16" name="Marcador de Posição do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17" name="Marcador de Posição de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22" name="Marcador de Posição do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PT"/>
              <a:t>Clique para editar os estilos do texto de Modelo Global</a:t>
            </a:r>
          </a:p>
        </p:txBody>
      </p:sp>
      <p:sp>
        <p:nvSpPr>
          <p:cNvPr id="23" name="Marcador de Posição de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18" name="Marcador de Posição do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PT"/>
              <a:t>Clique para EDITAR</a:t>
            </a:r>
          </a:p>
        </p:txBody>
      </p:sp>
      <p:sp>
        <p:nvSpPr>
          <p:cNvPr id="21" name="Marcador de Posição de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PT"/>
              <a:t>Clique para editar o estilo de título do Modelo Global</a:t>
            </a:r>
          </a:p>
        </p:txBody>
      </p:sp>
      <p:sp>
        <p:nvSpPr>
          <p:cNvPr id="10" name="Marcador de Posição d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clus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PT">
                <a:solidFill>
                  <a:schemeClr val="tx1">
                    <a:alpha val="60000"/>
                  </a:schemeClr>
                </a:solidFill>
              </a:rPr>
              <a:t>Clique para editar o estilo de subtítulo do Modelo Global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Marcador de Posição d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sp>
        <p:nvSpPr>
          <p:cNvPr id="42" name="Marcador de Posição d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PT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/>
              <a:t>Clique para editar o estilo de subtítulo do Modelo Global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PT"/>
              <a:t>Clique para editar os Estilos de título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1E42"/>
            </a:gs>
            <a:gs pos="100000">
              <a:srgbClr val="002060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2DF0C211-F93E-8C5A-8E01-546097EA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1</a:t>
            </a:fld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rtlCol="0" anchor="b" anchorCtr="0">
            <a:normAutofit/>
          </a:bodyPr>
          <a:lstStyle/>
          <a:p>
            <a:r>
              <a:rPr lang="en-US" sz="4000">
                <a:latin typeface="Gill Sans Nova" panose="020B0602020104020203" pitchFamily="34" charset="0"/>
              </a:rPr>
              <a:t>Understanding and Implementing Authenticated Post-Quantum Key Exchange</a:t>
            </a:r>
            <a:br>
              <a:rPr lang="en-US" sz="4000">
                <a:latin typeface="Gill Sans Nova" panose="020B0602020104020203" pitchFamily="34" charset="0"/>
              </a:rPr>
            </a:br>
            <a:endParaRPr lang="pt-PT" sz="4000">
              <a:latin typeface="Gill Sans Nova" panose="020B06020201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280011"/>
            <a:ext cx="5949328" cy="397467"/>
          </a:xfrm>
        </p:spPr>
        <p:txBody>
          <a:bodyPr wrap="square" rtlCol="0">
            <a:normAutofit/>
          </a:bodyPr>
          <a:lstStyle/>
          <a:p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Practical Study of CRYSTALS-Kyber and EKE</a:t>
            </a:r>
            <a:endParaRPr lang="pt-PT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77B96C2-6310-47F2-A7A6-FE7EAADB4947}"/>
              </a:ext>
            </a:extLst>
          </p:cNvPr>
          <p:cNvSpPr txBox="1">
            <a:spLocks/>
          </p:cNvSpPr>
          <p:nvPr/>
        </p:nvSpPr>
        <p:spPr>
          <a:xfrm>
            <a:off x="3179763" y="5102430"/>
            <a:ext cx="5949328" cy="175557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Author: Inês Ribeiro</a:t>
            </a:r>
            <a:b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Professor:  Ricardo Chaves</a:t>
            </a:r>
            <a:endParaRPr lang="pt-PT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44" name="Picture 20" descr="Download Free Cryptography Icons in PNG &amp; SVG">
            <a:extLst>
              <a:ext uri="{FF2B5EF4-FFF2-40B4-BE49-F238E27FC236}">
                <a16:creationId xmlns:a16="http://schemas.microsoft.com/office/drawing/2014/main" id="{EC2375F8-789D-3F1D-EE75-10A3A0890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766" y="549275"/>
            <a:ext cx="3702650" cy="370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34" y="592814"/>
            <a:ext cx="6943240" cy="817721"/>
          </a:xfrm>
        </p:spPr>
        <p:txBody>
          <a:bodyPr rtlCol="0"/>
          <a:lstStyle/>
          <a:p>
            <a:pPr rtl="0"/>
            <a:r>
              <a:rPr lang="pt-PT">
                <a:latin typeface="Gill Sans Nova" panose="020B0602020104020203" pitchFamily="34" charset="0"/>
              </a:rPr>
              <a:t>Objectives</a:t>
            </a:r>
            <a:r>
              <a:rPr lang="pt-PT"/>
              <a:t> </a:t>
            </a:r>
            <a:r>
              <a:rPr lang="pt-PT" dirty="0" err="1">
                <a:latin typeface="Gill Sans Nova" panose="020B0602020104020203" pitchFamily="34" charset="0"/>
              </a:rPr>
              <a:t>of</a:t>
            </a:r>
            <a:r>
              <a:rPr lang="pt-PT" dirty="0">
                <a:latin typeface="Gill Sans Nova" panose="020B0602020104020203" pitchFamily="34" charset="0"/>
              </a:rPr>
              <a:t> </a:t>
            </a:r>
            <a:r>
              <a:rPr lang="pt-PT" dirty="0" err="1">
                <a:latin typeface="Gill Sans Nova" panose="020B0602020104020203" pitchFamily="34" charset="0"/>
              </a:rPr>
              <a:t>this</a:t>
            </a:r>
            <a:r>
              <a:rPr lang="pt-PT" dirty="0">
                <a:latin typeface="Gill Sans Nova" panose="020B0602020104020203" pitchFamily="34" charset="0"/>
              </a:rPr>
              <a:t> </a:t>
            </a:r>
            <a:r>
              <a:rPr lang="pt-PT" dirty="0" err="1">
                <a:latin typeface="Gill Sans Nova" panose="020B0602020104020203" pitchFamily="34" charset="0"/>
              </a:rPr>
              <a:t>Work</a:t>
            </a:r>
            <a:endParaRPr lang="pt-PT" dirty="0">
              <a:latin typeface="Gill Sans Nova" panose="020B0602020104020203" pitchFamily="34" charset="0"/>
            </a:endParaRPr>
          </a:p>
        </p:txBody>
      </p:sp>
      <p:sp>
        <p:nvSpPr>
          <p:cNvPr id="15" name="Marcador de Posição do Número do Diapositivo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AB723E9E-8D0E-87B5-F028-D61F1CA812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707" y="1964532"/>
            <a:ext cx="62063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2400" err="1">
                <a:solidFill>
                  <a:schemeClr val="tx1"/>
                </a:solidFill>
              </a:rPr>
              <a:t>Analyse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the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challenges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that</a:t>
            </a:r>
            <a:r>
              <a:rPr lang="pt-PT" altLang="pt-PT" sz="2400">
                <a:solidFill>
                  <a:schemeClr val="tx1"/>
                </a:solidFill>
              </a:rPr>
              <a:t> quantum </a:t>
            </a:r>
            <a:r>
              <a:rPr lang="pt-PT" altLang="pt-PT" sz="2400" err="1">
                <a:solidFill>
                  <a:schemeClr val="tx1"/>
                </a:solidFill>
              </a:rPr>
              <a:t>computing</a:t>
            </a:r>
            <a:r>
              <a:rPr lang="pt-PT" altLang="pt-PT" sz="2400">
                <a:solidFill>
                  <a:schemeClr val="tx1"/>
                </a:solidFill>
              </a:rPr>
              <a:t> poses to </a:t>
            </a:r>
            <a:r>
              <a:rPr lang="pt-PT" altLang="pt-PT" sz="2400" err="1">
                <a:solidFill>
                  <a:schemeClr val="tx1"/>
                </a:solidFill>
              </a:rPr>
              <a:t>classical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cryptography</a:t>
            </a:r>
            <a:br>
              <a:rPr lang="pt-PT" altLang="pt-PT" sz="2400">
                <a:solidFill>
                  <a:schemeClr val="tx1"/>
                </a:solidFill>
              </a:rPr>
            </a:br>
            <a:endParaRPr lang="pt-PT" altLang="pt-PT" sz="240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2400" err="1">
                <a:solidFill>
                  <a:schemeClr val="tx1"/>
                </a:solidFill>
              </a:rPr>
              <a:t>Study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and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understand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the</a:t>
            </a:r>
            <a:r>
              <a:rPr lang="pt-PT" altLang="pt-PT" sz="2400">
                <a:solidFill>
                  <a:schemeClr val="tx1"/>
                </a:solidFill>
              </a:rPr>
              <a:t> design </a:t>
            </a:r>
            <a:r>
              <a:rPr lang="pt-PT" altLang="pt-PT" sz="2400" err="1">
                <a:solidFill>
                  <a:schemeClr val="tx1"/>
                </a:solidFill>
              </a:rPr>
              <a:t>of</a:t>
            </a:r>
            <a:r>
              <a:rPr lang="pt-PT" altLang="pt-PT" sz="2400">
                <a:solidFill>
                  <a:schemeClr val="tx1"/>
                </a:solidFill>
              </a:rPr>
              <a:t> CRYSTALS-</a:t>
            </a:r>
            <a:r>
              <a:rPr lang="pt-PT" altLang="pt-PT" sz="2400" err="1">
                <a:solidFill>
                  <a:schemeClr val="tx1"/>
                </a:solidFill>
              </a:rPr>
              <a:t>Kyber</a:t>
            </a:r>
            <a:br>
              <a:rPr lang="pt-PT" altLang="pt-PT" sz="2400">
                <a:solidFill>
                  <a:schemeClr val="tx1"/>
                </a:solidFill>
              </a:rPr>
            </a:br>
            <a:endParaRPr lang="pt-PT" altLang="pt-PT" sz="240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2400" err="1">
                <a:solidFill>
                  <a:schemeClr val="tx1"/>
                </a:solidFill>
              </a:rPr>
              <a:t>Evaluate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its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main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advantages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and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limitations</a:t>
            </a:r>
            <a:br>
              <a:rPr lang="pt-PT" altLang="pt-PT" sz="2400">
                <a:solidFill>
                  <a:schemeClr val="tx1"/>
                </a:solidFill>
              </a:rPr>
            </a:br>
            <a:endParaRPr lang="pt-PT" altLang="pt-PT" sz="240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2400" err="1">
                <a:solidFill>
                  <a:schemeClr val="tx1"/>
                </a:solidFill>
              </a:rPr>
              <a:t>Propose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and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implement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an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authenticated</a:t>
            </a:r>
            <a:r>
              <a:rPr lang="pt-PT" altLang="pt-PT" sz="2400">
                <a:solidFill>
                  <a:schemeClr val="tx1"/>
                </a:solidFill>
              </a:rPr>
              <a:t> EKE-</a:t>
            </a:r>
            <a:r>
              <a:rPr lang="pt-PT" altLang="pt-PT" sz="2400" err="1">
                <a:solidFill>
                  <a:schemeClr val="tx1"/>
                </a:solidFill>
              </a:rPr>
              <a:t>based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Kyber</a:t>
            </a:r>
            <a:r>
              <a:rPr lang="pt-PT" altLang="pt-PT" sz="2400">
                <a:solidFill>
                  <a:schemeClr val="tx1"/>
                </a:solidFill>
              </a:rPr>
              <a:t> </a:t>
            </a:r>
            <a:r>
              <a:rPr lang="pt-PT" altLang="pt-PT" sz="2400" err="1">
                <a:solidFill>
                  <a:schemeClr val="tx1"/>
                </a:solidFill>
              </a:rPr>
              <a:t>construction</a:t>
            </a:r>
            <a:endParaRPr lang="pt-PT" altLang="pt-PT" sz="2400">
              <a:solidFill>
                <a:schemeClr val="tx1"/>
              </a:solidFill>
            </a:endParaRPr>
          </a:p>
        </p:txBody>
      </p:sp>
      <p:pic>
        <p:nvPicPr>
          <p:cNvPr id="4107" name="Picture 11" descr="post-quantum cryptography | AWS Security Blog">
            <a:extLst>
              <a:ext uri="{FF2B5EF4-FFF2-40B4-BE49-F238E27FC236}">
                <a16:creationId xmlns:a16="http://schemas.microsoft.com/office/drawing/2014/main" id="{3F0478BF-B589-BB56-802B-A22C677A81EA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>
            <a:fillRect/>
          </a:stretch>
        </p:blipFill>
        <p:spPr bwMode="auto">
          <a:xfrm>
            <a:off x="8816975" y="765175"/>
            <a:ext cx="2263776" cy="22637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15" descr="The Future of Quantum Computing | Bernard Marr">
            <a:extLst>
              <a:ext uri="{FF2B5EF4-FFF2-40B4-BE49-F238E27FC236}">
                <a16:creationId xmlns:a16="http://schemas.microsoft.com/office/drawing/2014/main" id="{3378BCB7-2E50-5D0E-7744-459311529188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2" t="6786" r="104" b="8590"/>
          <a:stretch>
            <a:fillRect/>
          </a:stretch>
        </p:blipFill>
        <p:spPr bwMode="auto">
          <a:xfrm>
            <a:off x="6637023" y="3155949"/>
            <a:ext cx="2936876" cy="29368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rtlCol="0" anchor="t">
            <a:normAutofit/>
          </a:bodyPr>
          <a:lstStyle/>
          <a:p>
            <a:pPr rtl="0"/>
            <a:r>
              <a:rPr lang="pt-PT" err="1">
                <a:latin typeface="Gill Sans Nova" panose="020B0602020104020203" pitchFamily="34" charset="0"/>
              </a:rPr>
              <a:t>Motivation</a:t>
            </a:r>
            <a:endParaRPr lang="pt-PT">
              <a:latin typeface="Gill Sans Nova" panose="020B0602020104020203" pitchFamily="34" charset="0"/>
            </a:endParaRPr>
          </a:p>
        </p:txBody>
      </p:sp>
      <p:sp>
        <p:nvSpPr>
          <p:cNvPr id="12" name="Marcador de Posição de Conteúdo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238709"/>
            <a:ext cx="10543858" cy="717145"/>
          </a:xfrm>
        </p:spPr>
        <p:txBody>
          <a:bodyPr wrap="square" rtlCol="0">
            <a:normAutofit/>
          </a:bodyPr>
          <a:lstStyle/>
          <a:p>
            <a:pPr marL="0" indent="0" rtl="0">
              <a:buNone/>
            </a:pPr>
            <a:r>
              <a:rPr lang="pt-PT" sz="240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Why</a:t>
            </a:r>
            <a:r>
              <a:rPr lang="pt-PT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do </a:t>
            </a:r>
            <a:r>
              <a:rPr lang="pt-PT" sz="2400" dirty="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we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 </a:t>
            </a:r>
            <a:r>
              <a:rPr lang="pt-PT" sz="2400" dirty="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need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 </a:t>
            </a:r>
            <a:r>
              <a:rPr lang="pt-PT" sz="2400" dirty="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post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-quantum </a:t>
            </a:r>
            <a:r>
              <a:rPr lang="pt-PT" sz="2400" dirty="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cryptografic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 </a:t>
            </a:r>
            <a:r>
              <a:rPr lang="pt-PT" sz="2400" dirty="0" err="1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algorithms</a:t>
            </a:r>
            <a:r>
              <a:rPr lang="pt-PT" sz="2400" dirty="0">
                <a:solidFill>
                  <a:schemeClr val="tx1"/>
                </a:solidFill>
                <a:latin typeface="Gill Sans Nova" panose="020B0602020104020203" pitchFamily="34" charset="0"/>
                <a:ea typeface="+mj-ea"/>
                <a:cs typeface="+mj-cs"/>
              </a:rPr>
              <a:t>?</a:t>
            </a:r>
          </a:p>
          <a:p>
            <a:pPr rtl="0"/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3</a:t>
            </a:fld>
            <a:endParaRPr lang="pt-PT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CAA3192-62AD-F85E-3FC6-4397A7D13BA4}"/>
              </a:ext>
            </a:extLst>
          </p:cNvPr>
          <p:cNvGrpSpPr/>
          <p:nvPr/>
        </p:nvGrpSpPr>
        <p:grpSpPr>
          <a:xfrm>
            <a:off x="702464" y="1955854"/>
            <a:ext cx="3220278" cy="4151934"/>
            <a:chOff x="680075" y="1881275"/>
            <a:chExt cx="3220278" cy="4151934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78A3C4E-F8F6-79A0-1AA7-D0A97E5B7CF4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84CA00D-A6DD-5724-A9FD-CAB6E948234F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/>
                <a:t>Classical Cryptography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6616463-1E50-2D77-8D9D-23DBE9839189}"/>
              </a:ext>
            </a:extLst>
          </p:cNvPr>
          <p:cNvGrpSpPr/>
          <p:nvPr/>
        </p:nvGrpSpPr>
        <p:grpSpPr>
          <a:xfrm>
            <a:off x="4397581" y="1955854"/>
            <a:ext cx="3220278" cy="4151934"/>
            <a:chOff x="680075" y="1881275"/>
            <a:chExt cx="3220278" cy="415193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88EA169-0428-B4BF-60DC-0E7D5A4AFC68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7DF0C69-3BAD-DBF7-0DE9-AE5D3FFC341B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/>
                <a:t>Quantum Threat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8D70CD7-DC79-2818-41CE-9C28D60930EF}"/>
              </a:ext>
            </a:extLst>
          </p:cNvPr>
          <p:cNvGrpSpPr/>
          <p:nvPr/>
        </p:nvGrpSpPr>
        <p:grpSpPr>
          <a:xfrm>
            <a:off x="8092698" y="1955854"/>
            <a:ext cx="3220278" cy="4151934"/>
            <a:chOff x="680075" y="1881275"/>
            <a:chExt cx="3220278" cy="415193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5C52D512-AD4A-7B85-C648-52B7622E3155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BB7C4186-3FE1-47BD-F04F-175520D47B5C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>
                  <a:solidFill>
                    <a:schemeClr val="tx1"/>
                  </a:solidFill>
                </a:rPr>
                <a:t>Need for Post-Quantum Solutions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CFF367B-0618-8EAA-D36F-FDDEE1CFAEA6}"/>
              </a:ext>
            </a:extLst>
          </p:cNvPr>
          <p:cNvSpPr txBox="1"/>
          <p:nvPr/>
        </p:nvSpPr>
        <p:spPr>
          <a:xfrm>
            <a:off x="779463" y="3160643"/>
            <a:ext cx="3220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RSA, ECC</a:t>
            </a:r>
            <a:br>
              <a:rPr lang="pt-PT" b="1"/>
            </a:br>
            <a:endParaRPr lang="pt-PT" b="1"/>
          </a:p>
          <a:p>
            <a:r>
              <a:rPr lang="pt-PT" b="1"/>
              <a:t>Security bad on factoring &amp; discrete log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18" name="Imagem 17" descr="Uma imagem com conjunto de serviço em metal, fechadura, cadeado&#10;&#10;Os conteúdos gerados por IA podem estar incorretos.">
            <a:extLst>
              <a:ext uri="{FF2B5EF4-FFF2-40B4-BE49-F238E27FC236}">
                <a16:creationId xmlns:a16="http://schemas.microsoft.com/office/drawing/2014/main" id="{FF165415-ECB9-9D7E-41F7-1F1E4E72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153" y="5113440"/>
            <a:ext cx="596900" cy="5969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61439B27-624A-8C4E-F7F6-CFB71B2531A2}"/>
              </a:ext>
            </a:extLst>
          </p:cNvPr>
          <p:cNvSpPr txBox="1"/>
          <p:nvPr/>
        </p:nvSpPr>
        <p:spPr>
          <a:xfrm>
            <a:off x="4474580" y="3160643"/>
            <a:ext cx="3220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Shor Algorithm</a:t>
            </a:r>
          </a:p>
          <a:p>
            <a:endParaRPr lang="pt-PT" b="1"/>
          </a:p>
          <a:p>
            <a:r>
              <a:rPr lang="pt-PT" b="1"/>
              <a:t>Risk to current Systems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22" name="Imagem 21" descr="Uma imagem com estrela, astronomia, criatividade&#10;&#10;Os conteúdos gerados por IA podem estar incorretos.">
            <a:extLst>
              <a:ext uri="{FF2B5EF4-FFF2-40B4-BE49-F238E27FC236}">
                <a16:creationId xmlns:a16="http://schemas.microsoft.com/office/drawing/2014/main" id="{E9363850-DB0A-DA83-4AE9-17209C07A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835" y="5135740"/>
            <a:ext cx="583767" cy="583767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EE1308-4393-A68C-D7E9-83F923564232}"/>
              </a:ext>
            </a:extLst>
          </p:cNvPr>
          <p:cNvSpPr txBox="1"/>
          <p:nvPr/>
        </p:nvSpPr>
        <p:spPr>
          <a:xfrm>
            <a:off x="8192259" y="3160643"/>
            <a:ext cx="3220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Algorithms resistant to Quantum Computers</a:t>
            </a:r>
            <a:br>
              <a:rPr lang="pt-PT" b="1"/>
            </a:br>
            <a:endParaRPr lang="pt-PT" b="1"/>
          </a:p>
          <a:p>
            <a:r>
              <a:rPr lang="pt-PT" b="1"/>
              <a:t>Ex: CRYSTALS - Kyber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25" name="Imagem 24" descr="Uma imagem com preto, escuridão&#10;&#10;Os conteúdos gerados por IA podem estar incorretos.">
            <a:extLst>
              <a:ext uri="{FF2B5EF4-FFF2-40B4-BE49-F238E27FC236}">
                <a16:creationId xmlns:a16="http://schemas.microsoft.com/office/drawing/2014/main" id="{49B69750-BEF8-22CD-680D-62A43D211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6520" y="5135740"/>
            <a:ext cx="571755" cy="5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8BBD-F2B3-4605-84F7-B3204EAF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9F1E597F-3AF0-1642-D6F3-03D4008EE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rtlCol="0" anchor="t">
            <a:normAutofit/>
          </a:bodyPr>
          <a:lstStyle/>
          <a:p>
            <a:pPr rtl="0"/>
            <a:r>
              <a:rPr lang="pt-PT" dirty="0">
                <a:latin typeface="Gill Sans Nova" panose="020B0602020104020203" pitchFamily="34" charset="0"/>
              </a:rPr>
              <a:t>CRYSTALS</a:t>
            </a:r>
            <a:r>
              <a:rPr lang="pt-PT" dirty="0"/>
              <a:t> - </a:t>
            </a:r>
            <a:r>
              <a:rPr lang="pt-PT" dirty="0" err="1">
                <a:latin typeface="Gill Sans Nova" panose="020B0602020104020203" pitchFamily="34" charset="0"/>
              </a:rPr>
              <a:t>Kyber</a:t>
            </a:r>
            <a:endParaRPr lang="pt-PT" dirty="0">
              <a:latin typeface="Gill Sans Nova" panose="020B0602020104020203" pitchFamily="34" charset="0"/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D367AA4-C16E-7131-4B15-E86AD6C5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4</a:t>
            </a:fld>
            <a:endParaRPr lang="pt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3DC039E-5E65-D60C-B66F-5825971D7DC4}"/>
              </a:ext>
            </a:extLst>
          </p:cNvPr>
          <p:cNvGrpSpPr/>
          <p:nvPr/>
        </p:nvGrpSpPr>
        <p:grpSpPr>
          <a:xfrm>
            <a:off x="1252778" y="1881275"/>
            <a:ext cx="9686443" cy="4151934"/>
            <a:chOff x="680075" y="1881275"/>
            <a:chExt cx="3220278" cy="4151934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FC12FEB0-6488-51CF-8CE8-8121F5FA1257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EE3D89C-3A74-D3EA-193A-314C0AA1401E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400" b="1"/>
                <a:t>What is Kyber?</a:t>
              </a: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6891F30-5C23-5448-65EB-61E619635BA4}"/>
              </a:ext>
            </a:extLst>
          </p:cNvPr>
          <p:cNvSpPr txBox="1"/>
          <p:nvPr/>
        </p:nvSpPr>
        <p:spPr>
          <a:xfrm>
            <a:off x="1399003" y="3064681"/>
            <a:ext cx="492559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/>
              <a:t>Lattice-based KEM</a:t>
            </a:r>
          </a:p>
          <a:p>
            <a:endParaRPr lang="pt-PT" sz="2400" b="1"/>
          </a:p>
          <a:p>
            <a:r>
              <a:rPr lang="pt-PT" sz="2400" b="1"/>
              <a:t>Security based on Module-LWE</a:t>
            </a:r>
            <a:br>
              <a:rPr lang="pt-PT" sz="2400" b="1"/>
            </a:br>
            <a:br>
              <a:rPr lang="pt-PT" sz="2400" b="1"/>
            </a:br>
            <a:r>
              <a:rPr lang="pt-PT" sz="2400" b="1"/>
              <a:t>3 Phases: KeyGen, Encap, Decap</a:t>
            </a:r>
          </a:p>
          <a:p>
            <a:endParaRPr lang="pt-PT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637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DD7F-3B32-4989-0379-56508BF2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5C92338E-A955-A61F-36DE-6F0809CC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rtlCol="0" anchor="t">
            <a:normAutofit/>
          </a:bodyPr>
          <a:lstStyle/>
          <a:p>
            <a:r>
              <a:rPr lang="pt-PT" err="1">
                <a:latin typeface="Gill Sans Nova" panose="020B0602020104020203" pitchFamily="34" charset="0"/>
              </a:rPr>
              <a:t>Mathematical</a:t>
            </a:r>
            <a:r>
              <a:rPr lang="pt-PT">
                <a:latin typeface="Gill Sans Nova" panose="020B0602020104020203" pitchFamily="34" charset="0"/>
              </a:rPr>
              <a:t> </a:t>
            </a:r>
            <a:r>
              <a:rPr lang="pt-PT" err="1">
                <a:latin typeface="Gill Sans Nova" panose="020B0602020104020203" pitchFamily="34" charset="0"/>
              </a:rPr>
              <a:t>Structure</a:t>
            </a:r>
            <a:r>
              <a:rPr lang="pt-PT">
                <a:latin typeface="Gill Sans Nova" panose="020B0602020104020203" pitchFamily="34" charset="0"/>
              </a:rPr>
              <a:t> </a:t>
            </a:r>
            <a:r>
              <a:rPr lang="pt-PT" err="1">
                <a:latin typeface="Gill Sans Nova" panose="020B0602020104020203" pitchFamily="34" charset="0"/>
              </a:rPr>
              <a:t>of</a:t>
            </a:r>
            <a:r>
              <a:rPr lang="pt-PT">
                <a:latin typeface="Gill Sans Nova" panose="020B0602020104020203" pitchFamily="34" charset="0"/>
              </a:rPr>
              <a:t> </a:t>
            </a:r>
            <a:r>
              <a:rPr lang="pt-PT" err="1">
                <a:latin typeface="Gill Sans Nova" panose="020B0602020104020203" pitchFamily="34" charset="0"/>
              </a:rPr>
              <a:t>Kyber</a:t>
            </a:r>
            <a:endParaRPr lang="pt-PT">
              <a:latin typeface="Gill Sans Nova" panose="020B0602020104020203" pitchFamily="34" charset="0"/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0DCC7FE-1DC7-1983-ECA9-C23B54E9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5</a:t>
            </a:fld>
            <a:endParaRPr lang="pt-PT"/>
          </a:p>
        </p:txBody>
      </p:sp>
      <p:pic>
        <p:nvPicPr>
          <p:cNvPr id="3" name="Imagem 2" descr="Uma imagem com Tipo de letra, tipografia, caligrafia, texto&#10;&#10;Os conteúdos gerados por IA podem estar incorretos.">
            <a:extLst>
              <a:ext uri="{FF2B5EF4-FFF2-40B4-BE49-F238E27FC236}">
                <a16:creationId xmlns:a16="http://schemas.microsoft.com/office/drawing/2014/main" id="{19532BEA-1A35-B569-0E53-9EC55E9CA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025" y="1796662"/>
            <a:ext cx="3791479" cy="61921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4C0817B-A669-3603-ACD4-C9FB72A14B62}"/>
              </a:ext>
            </a:extLst>
          </p:cNvPr>
          <p:cNvSpPr txBox="1"/>
          <p:nvPr/>
        </p:nvSpPr>
        <p:spPr>
          <a:xfrm>
            <a:off x="1320016" y="4362587"/>
            <a:ext cx="4925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/>
              <a:t>Encapsulation: 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CC4F26-F5A7-3262-E03E-7B5B070C303E}"/>
              </a:ext>
            </a:extLst>
          </p:cNvPr>
          <p:cNvSpPr txBox="1"/>
          <p:nvPr/>
        </p:nvSpPr>
        <p:spPr>
          <a:xfrm>
            <a:off x="1320017" y="5378250"/>
            <a:ext cx="4925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/>
              <a:t>Decapsulation: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424F04-BACE-08E8-9AEC-FD24BCBF0561}"/>
              </a:ext>
            </a:extLst>
          </p:cNvPr>
          <p:cNvSpPr txBox="1"/>
          <p:nvPr/>
        </p:nvSpPr>
        <p:spPr>
          <a:xfrm>
            <a:off x="1320016" y="3320157"/>
            <a:ext cx="4925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/>
              <a:t>Key Generation: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10" name="Imagem 9" descr="Uma imagem com Tipo de letra, texto, tipografia, branco&#10;&#10;Os conteúdos gerados por IA podem estar incorretos.">
            <a:extLst>
              <a:ext uri="{FF2B5EF4-FFF2-40B4-BE49-F238E27FC236}">
                <a16:creationId xmlns:a16="http://schemas.microsoft.com/office/drawing/2014/main" id="{71FE67B7-BC56-7327-62A0-EC4B3C83C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624" y="4335820"/>
            <a:ext cx="3022176" cy="457379"/>
          </a:xfrm>
          <a:prstGeom prst="rect">
            <a:avLst/>
          </a:prstGeom>
        </p:spPr>
      </p:pic>
      <p:pic>
        <p:nvPicPr>
          <p:cNvPr id="13" name="Imagem 12" descr="Uma imagem com Tipo de letra, tipografia, caligrafia, texto&#10;&#10;Os conteúdos gerados por IA podem estar incorretos.">
            <a:extLst>
              <a:ext uri="{FF2B5EF4-FFF2-40B4-BE49-F238E27FC236}">
                <a16:creationId xmlns:a16="http://schemas.microsoft.com/office/drawing/2014/main" id="{6CE2EF02-9D7B-F25C-E846-E41400ADB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629" y="4335820"/>
            <a:ext cx="3399184" cy="461196"/>
          </a:xfrm>
          <a:prstGeom prst="rect">
            <a:avLst/>
          </a:prstGeom>
        </p:spPr>
      </p:pic>
      <p:pic>
        <p:nvPicPr>
          <p:cNvPr id="15" name="Imagem 14" descr="Uma imagem com Tipo de letra, tipografia, texto, caligrafia&#10;&#10;Os conteúdos gerados por IA podem estar incorretos.">
            <a:extLst>
              <a:ext uri="{FF2B5EF4-FFF2-40B4-BE49-F238E27FC236}">
                <a16:creationId xmlns:a16="http://schemas.microsoft.com/office/drawing/2014/main" id="{F694852C-70A5-F8F1-9A92-1643AFCF2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426" y="3346924"/>
            <a:ext cx="2863147" cy="49554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E1CD7FB-D620-A849-328C-3EA77E8A9C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447" y="5351483"/>
            <a:ext cx="6145416" cy="51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8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457E-52C9-D722-F371-59740627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EFE96E34-D70B-CE5F-F506-B287F7489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rtlCol="0" anchor="t">
            <a:normAutofit/>
          </a:bodyPr>
          <a:lstStyle/>
          <a:p>
            <a:pPr rtl="0"/>
            <a:r>
              <a:rPr lang="pt-PT" err="1">
                <a:latin typeface="Gill Sans Nova" panose="020B0602020104020203" pitchFamily="34" charset="0"/>
              </a:rPr>
              <a:t>Kyber</a:t>
            </a:r>
            <a:r>
              <a:rPr lang="pt-PT">
                <a:latin typeface="Gill Sans Nova" panose="020B0602020104020203" pitchFamily="34" charset="0"/>
              </a:rPr>
              <a:t> - </a:t>
            </a:r>
            <a:r>
              <a:rPr lang="pt-PT" err="1">
                <a:latin typeface="Gill Sans Nova" panose="020B0602020104020203" pitchFamily="34" charset="0"/>
              </a:rPr>
              <a:t>Overview</a:t>
            </a:r>
            <a:endParaRPr lang="pt-PT">
              <a:latin typeface="Gill Sans Nova" panose="020B0602020104020203" pitchFamily="34" charset="0"/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61D565A-8638-F223-6332-90CB8494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6</a:t>
            </a:fld>
            <a:endParaRPr lang="pt-PT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BEE237F-6A31-D75D-4B0C-8913C12D4DCB}"/>
              </a:ext>
            </a:extLst>
          </p:cNvPr>
          <p:cNvGrpSpPr/>
          <p:nvPr/>
        </p:nvGrpSpPr>
        <p:grpSpPr>
          <a:xfrm>
            <a:off x="809280" y="1881275"/>
            <a:ext cx="3220278" cy="4151934"/>
            <a:chOff x="680075" y="1881275"/>
            <a:chExt cx="3220278" cy="415193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C437483-74E4-46D8-2C28-0AF6014C987E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F1366DC-7996-FE25-9327-ACDE3745C707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 err="1"/>
                <a:t>Key</a:t>
              </a:r>
              <a:r>
                <a:rPr lang="pt-PT" sz="2000" b="1"/>
                <a:t> </a:t>
              </a:r>
              <a:r>
                <a:rPr lang="pt-PT" sz="2000" b="1" err="1"/>
                <a:t>Generation</a:t>
              </a:r>
              <a:endParaRPr lang="pt-PT" sz="2000" b="1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05571C3-0BB1-6F68-DF14-7B61E2A07452}"/>
              </a:ext>
            </a:extLst>
          </p:cNvPr>
          <p:cNvGrpSpPr/>
          <p:nvPr/>
        </p:nvGrpSpPr>
        <p:grpSpPr>
          <a:xfrm>
            <a:off x="4485861" y="1881275"/>
            <a:ext cx="3220278" cy="4151934"/>
            <a:chOff x="4365832" y="1881275"/>
            <a:chExt cx="3220278" cy="4151934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CEB03969-BC44-1CB3-AA2F-BA2BBE7562EA}"/>
                </a:ext>
              </a:extLst>
            </p:cNvPr>
            <p:cNvSpPr>
              <a:spLocks/>
            </p:cNvSpPr>
            <p:nvPr/>
          </p:nvSpPr>
          <p:spPr>
            <a:xfrm>
              <a:off x="4365832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7E5D2F4-E76C-98EB-F7B7-A228818AD075}"/>
                </a:ext>
              </a:extLst>
            </p:cNvPr>
            <p:cNvSpPr>
              <a:spLocks/>
            </p:cNvSpPr>
            <p:nvPr/>
          </p:nvSpPr>
          <p:spPr>
            <a:xfrm>
              <a:off x="4365832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 err="1"/>
                <a:t>Encapsulation</a:t>
              </a:r>
              <a:endParaRPr lang="pt-PT" b="1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E4BF002-8A3D-29EE-2207-B6CB8E792F8B}"/>
              </a:ext>
            </a:extLst>
          </p:cNvPr>
          <p:cNvGrpSpPr/>
          <p:nvPr/>
        </p:nvGrpSpPr>
        <p:grpSpPr>
          <a:xfrm>
            <a:off x="8162442" y="1881275"/>
            <a:ext cx="3220278" cy="4151934"/>
            <a:chOff x="8192259" y="1881275"/>
            <a:chExt cx="3220278" cy="415193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DDE5261-4C79-5335-A811-7D4C1BD0B3DA}"/>
                </a:ext>
              </a:extLst>
            </p:cNvPr>
            <p:cNvSpPr>
              <a:spLocks/>
            </p:cNvSpPr>
            <p:nvPr/>
          </p:nvSpPr>
          <p:spPr>
            <a:xfrm>
              <a:off x="8192259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00245C2E-22E4-5D11-E1CF-57EA691B94F0}"/>
                </a:ext>
              </a:extLst>
            </p:cNvPr>
            <p:cNvSpPr>
              <a:spLocks/>
            </p:cNvSpPr>
            <p:nvPr/>
          </p:nvSpPr>
          <p:spPr>
            <a:xfrm>
              <a:off x="8192259" y="1881275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 err="1"/>
                <a:t>Decapsulation</a:t>
              </a:r>
              <a:endParaRPr lang="pt-PT" sz="2000" b="1"/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5A68A13-597F-85D2-3CFA-AFF5032C270A}"/>
              </a:ext>
            </a:extLst>
          </p:cNvPr>
          <p:cNvSpPr txBox="1"/>
          <p:nvPr/>
        </p:nvSpPr>
        <p:spPr>
          <a:xfrm>
            <a:off x="809280" y="2703443"/>
            <a:ext cx="3220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0D1C3D"/>
                </a:solidFill>
              </a:rPr>
              <a:t>Bob</a:t>
            </a:r>
            <a:endParaRPr lang="pt-PT" b="1">
              <a:solidFill>
                <a:srgbClr val="0D1C3D"/>
              </a:solidFill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41AA3B9-6524-BCB1-56B4-4F9A74684031}"/>
              </a:ext>
            </a:extLst>
          </p:cNvPr>
          <p:cNvSpPr txBox="1"/>
          <p:nvPr/>
        </p:nvSpPr>
        <p:spPr>
          <a:xfrm>
            <a:off x="809280" y="3349487"/>
            <a:ext cx="32202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Generates</a:t>
            </a:r>
            <a:r>
              <a:rPr lang="pt-PT"/>
              <a:t> a </a:t>
            </a:r>
            <a:r>
              <a:rPr lang="pt-PT" err="1"/>
              <a:t>secret</a:t>
            </a:r>
            <a:r>
              <a:rPr lang="pt-PT"/>
              <a:t> </a:t>
            </a:r>
            <a:r>
              <a:rPr lang="pt-PT" b="1" i="1">
                <a:solidFill>
                  <a:srgbClr val="161E42"/>
                </a:solidFill>
              </a:rPr>
              <a:t>s</a:t>
            </a:r>
            <a:r>
              <a:rPr lang="pt-PT" i="1"/>
              <a:t> </a:t>
            </a:r>
            <a:r>
              <a:rPr lang="pt-PT" err="1"/>
              <a:t>and</a:t>
            </a:r>
            <a:r>
              <a:rPr lang="pt-PT"/>
              <a:t> </a:t>
            </a:r>
            <a:r>
              <a:rPr lang="pt-PT" err="1"/>
              <a:t>an</a:t>
            </a:r>
            <a:r>
              <a:rPr lang="pt-PT"/>
              <a:t> error</a:t>
            </a:r>
            <a:r>
              <a:rPr lang="pt-PT" i="1"/>
              <a:t> </a:t>
            </a:r>
            <a:r>
              <a:rPr lang="pt-PT" b="1" i="1">
                <a:solidFill>
                  <a:srgbClr val="161E42"/>
                </a:solidFill>
              </a:rPr>
              <a:t>e</a:t>
            </a:r>
            <a:br>
              <a:rPr lang="pt-PT" b="1" i="1">
                <a:solidFill>
                  <a:srgbClr val="161E42"/>
                </a:solidFill>
              </a:rPr>
            </a:br>
            <a:br>
              <a:rPr lang="pt-PT" b="1" i="1">
                <a:solidFill>
                  <a:srgbClr val="161E42"/>
                </a:solidFill>
              </a:rPr>
            </a:br>
            <a:r>
              <a:rPr lang="pt-PT"/>
              <a:t>Computes </a:t>
            </a:r>
            <a:r>
              <a:rPr lang="pt-PT" b="1" i="1">
                <a:solidFill>
                  <a:srgbClr val="0D1C3D"/>
                </a:solidFill>
              </a:rPr>
              <a:t>t = As + e (</a:t>
            </a:r>
            <a:r>
              <a:rPr lang="pt-PT" b="1" i="1" err="1">
                <a:solidFill>
                  <a:srgbClr val="0D1C3D"/>
                </a:solidFill>
              </a:rPr>
              <a:t>mod</a:t>
            </a:r>
            <a:r>
              <a:rPr lang="pt-PT" b="1" i="1">
                <a:solidFill>
                  <a:srgbClr val="0D1C3D"/>
                </a:solidFill>
              </a:rPr>
              <a:t> q)</a:t>
            </a:r>
            <a:br>
              <a:rPr lang="pt-PT" b="1" i="1">
                <a:solidFill>
                  <a:srgbClr val="0D1C3D"/>
                </a:solidFill>
              </a:rPr>
            </a:br>
            <a:br>
              <a:rPr lang="pt-PT" b="1" i="1">
                <a:solidFill>
                  <a:srgbClr val="0D1C3D"/>
                </a:solidFill>
              </a:rPr>
            </a:br>
            <a:r>
              <a:rPr lang="pt-PT" err="1"/>
              <a:t>Sends</a:t>
            </a:r>
            <a:r>
              <a:rPr lang="pt-PT"/>
              <a:t> to Alice:  </a:t>
            </a:r>
            <a:r>
              <a:rPr lang="pt-PT" b="1" i="1" err="1">
                <a:solidFill>
                  <a:srgbClr val="0D1C3D"/>
                </a:solidFill>
              </a:rPr>
              <a:t>pk</a:t>
            </a:r>
            <a:r>
              <a:rPr lang="pt-PT" b="1" i="1">
                <a:solidFill>
                  <a:srgbClr val="0D1C3D"/>
                </a:solidFill>
              </a:rPr>
              <a:t> = (</a:t>
            </a:r>
            <a:r>
              <a:rPr lang="pt-PT" b="1" i="1" err="1">
                <a:solidFill>
                  <a:srgbClr val="0D1C3D"/>
                </a:solidFill>
              </a:rPr>
              <a:t>seed_A</a:t>
            </a:r>
            <a:r>
              <a:rPr lang="pt-PT" b="1" i="1">
                <a:solidFill>
                  <a:srgbClr val="0D1C3D"/>
                </a:solidFill>
              </a:rPr>
              <a:t>, t)</a:t>
            </a:r>
            <a:br>
              <a:rPr lang="pt-PT" b="1" i="1">
                <a:solidFill>
                  <a:srgbClr val="0D1C3D"/>
                </a:solidFill>
              </a:rPr>
            </a:br>
            <a:br>
              <a:rPr lang="pt-PT" b="1" i="1">
                <a:solidFill>
                  <a:srgbClr val="0D1C3D"/>
                </a:solidFill>
              </a:rPr>
            </a:br>
            <a:r>
              <a:rPr lang="pt-PT" b="1" i="1" err="1"/>
              <a:t>K</a:t>
            </a:r>
            <a:r>
              <a:rPr lang="pt-PT" err="1"/>
              <a:t>eeps</a:t>
            </a:r>
            <a:r>
              <a:rPr lang="pt-PT" b="1" i="1"/>
              <a:t> </a:t>
            </a:r>
            <a:r>
              <a:rPr lang="pt-PT" b="1" i="1">
                <a:solidFill>
                  <a:srgbClr val="0D1C3D"/>
                </a:solidFill>
              </a:rPr>
              <a:t>s</a:t>
            </a:r>
            <a:r>
              <a:rPr lang="pt-PT" b="1" i="1"/>
              <a:t> </a:t>
            </a:r>
            <a:r>
              <a:rPr lang="pt-PT" err="1"/>
              <a:t>private</a:t>
            </a:r>
            <a:endParaRPr lang="pt-PT"/>
          </a:p>
          <a:p>
            <a:endParaRPr lang="pt-PT"/>
          </a:p>
          <a:p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BD94A4B-7734-4366-D083-71624D63B553}"/>
              </a:ext>
            </a:extLst>
          </p:cNvPr>
          <p:cNvSpPr txBox="1"/>
          <p:nvPr/>
        </p:nvSpPr>
        <p:spPr>
          <a:xfrm>
            <a:off x="4485861" y="2703443"/>
            <a:ext cx="3220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0D1C3D"/>
                </a:solidFill>
              </a:rPr>
              <a:t>Alice</a:t>
            </a:r>
            <a:endParaRPr lang="pt-PT" b="1">
              <a:solidFill>
                <a:srgbClr val="0D1C3D"/>
              </a:solidFill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E66A1A0-8E5B-3D27-FA90-E2CBD4B95F80}"/>
              </a:ext>
            </a:extLst>
          </p:cNvPr>
          <p:cNvSpPr txBox="1"/>
          <p:nvPr/>
        </p:nvSpPr>
        <p:spPr>
          <a:xfrm>
            <a:off x="4485861" y="3103553"/>
            <a:ext cx="32202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Receives</a:t>
            </a:r>
            <a:r>
              <a:rPr lang="pt-PT"/>
              <a:t> </a:t>
            </a:r>
            <a:r>
              <a:rPr lang="pt-PT" err="1"/>
              <a:t>Bob’s</a:t>
            </a:r>
            <a:r>
              <a:rPr lang="pt-PT"/>
              <a:t> </a:t>
            </a:r>
            <a:r>
              <a:rPr lang="pt-PT" err="1"/>
              <a:t>public</a:t>
            </a:r>
            <a:r>
              <a:rPr lang="pt-PT"/>
              <a:t> </a:t>
            </a:r>
            <a:r>
              <a:rPr lang="pt-PT" err="1"/>
              <a:t>key</a:t>
            </a:r>
            <a:r>
              <a:rPr lang="pt-PT"/>
              <a:t>: </a:t>
            </a:r>
            <a:r>
              <a:rPr lang="pt-PT" b="1" i="1" err="1">
                <a:solidFill>
                  <a:srgbClr val="0D1C3D"/>
                </a:solidFill>
              </a:rPr>
              <a:t>pk</a:t>
            </a:r>
            <a:br>
              <a:rPr lang="pt-PT"/>
            </a:br>
            <a:br>
              <a:rPr lang="pt-PT"/>
            </a:br>
            <a:r>
              <a:rPr lang="pt-PT" err="1"/>
              <a:t>Generates</a:t>
            </a:r>
            <a:r>
              <a:rPr lang="pt-PT"/>
              <a:t> </a:t>
            </a:r>
            <a:r>
              <a:rPr lang="pt-PT" err="1"/>
              <a:t>random</a:t>
            </a:r>
            <a:r>
              <a:rPr lang="pt-PT"/>
              <a:t> </a:t>
            </a:r>
            <a:r>
              <a:rPr lang="pt-PT" err="1"/>
              <a:t>message</a:t>
            </a:r>
            <a:r>
              <a:rPr lang="pt-PT"/>
              <a:t> </a:t>
            </a:r>
            <a:r>
              <a:rPr lang="pt-PT" b="1" i="1">
                <a:solidFill>
                  <a:srgbClr val="0D1C3D"/>
                </a:solidFill>
              </a:rPr>
              <a:t>m</a:t>
            </a:r>
            <a:br>
              <a:rPr lang="pt-PT"/>
            </a:br>
            <a:br>
              <a:rPr lang="pt-PT"/>
            </a:br>
            <a:r>
              <a:rPr lang="pt-PT"/>
              <a:t>Computes </a:t>
            </a:r>
            <a:r>
              <a:rPr lang="pt-PT" err="1"/>
              <a:t>ciphertext</a:t>
            </a:r>
            <a:r>
              <a:rPr lang="pt-PT"/>
              <a:t> </a:t>
            </a:r>
            <a:r>
              <a:rPr lang="pt-PT" b="1" i="1">
                <a:solidFill>
                  <a:srgbClr val="0D1C3D"/>
                </a:solidFill>
              </a:rPr>
              <a:t>ct </a:t>
            </a:r>
            <a:r>
              <a:rPr lang="pt-PT" b="1">
                <a:solidFill>
                  <a:srgbClr val="0D1C3D"/>
                </a:solidFill>
              </a:rPr>
              <a:t>=</a:t>
            </a:r>
            <a:r>
              <a:rPr lang="pt-PT"/>
              <a:t> </a:t>
            </a:r>
            <a:r>
              <a:rPr lang="pt-PT" b="1" i="1">
                <a:solidFill>
                  <a:srgbClr val="0D1C3D"/>
                </a:solidFill>
              </a:rPr>
              <a:t>(</a:t>
            </a:r>
            <a:r>
              <a:rPr lang="pt-PT" b="1" i="1" err="1">
                <a:solidFill>
                  <a:srgbClr val="0D1C3D"/>
                </a:solidFill>
              </a:rPr>
              <a:t>u,v</a:t>
            </a:r>
            <a:r>
              <a:rPr lang="pt-PT" b="1" i="1">
                <a:solidFill>
                  <a:srgbClr val="0D1C3D"/>
                </a:solidFill>
              </a:rPr>
              <a:t>)</a:t>
            </a:r>
          </a:p>
          <a:p>
            <a:br>
              <a:rPr lang="pt-PT"/>
            </a:br>
            <a:r>
              <a:rPr lang="pt-PT"/>
              <a:t>Derives </a:t>
            </a:r>
            <a:r>
              <a:rPr lang="pt-PT" err="1"/>
              <a:t>shared</a:t>
            </a:r>
            <a:r>
              <a:rPr lang="pt-PT"/>
              <a:t> </a:t>
            </a:r>
            <a:r>
              <a:rPr lang="pt-PT" err="1"/>
              <a:t>secret</a:t>
            </a:r>
            <a:r>
              <a:rPr lang="pt-PT"/>
              <a:t> </a:t>
            </a:r>
            <a:r>
              <a:rPr lang="pt-PT" b="1">
                <a:solidFill>
                  <a:srgbClr val="0D1C3D"/>
                </a:solidFill>
              </a:rPr>
              <a:t>ss </a:t>
            </a:r>
            <a:r>
              <a:rPr lang="pt-PT"/>
              <a:t>and keeps it private</a:t>
            </a:r>
            <a:br>
              <a:rPr lang="pt-PT"/>
            </a:br>
            <a:br>
              <a:rPr lang="pt-PT"/>
            </a:br>
            <a:r>
              <a:rPr lang="pt-PT" err="1"/>
              <a:t>Sends</a:t>
            </a:r>
            <a:r>
              <a:rPr lang="pt-PT"/>
              <a:t> </a:t>
            </a:r>
            <a:r>
              <a:rPr lang="pt-PT" b="1" i="1">
                <a:solidFill>
                  <a:srgbClr val="0D1C3D"/>
                </a:solidFill>
              </a:rPr>
              <a:t>ct</a:t>
            </a:r>
            <a:r>
              <a:rPr lang="pt-PT"/>
              <a:t> to Bob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06CA4B7-E6AC-E37E-4C06-3365C2157170}"/>
              </a:ext>
            </a:extLst>
          </p:cNvPr>
          <p:cNvSpPr txBox="1"/>
          <p:nvPr/>
        </p:nvSpPr>
        <p:spPr>
          <a:xfrm>
            <a:off x="8291651" y="3349486"/>
            <a:ext cx="3220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Receives ciphertext </a:t>
            </a:r>
            <a:r>
              <a:rPr lang="pt-PT" b="1" i="1">
                <a:solidFill>
                  <a:srgbClr val="0D1C3D"/>
                </a:solidFill>
              </a:rPr>
              <a:t>ct =</a:t>
            </a:r>
            <a:r>
              <a:rPr lang="pt-PT"/>
              <a:t> </a:t>
            </a:r>
            <a:r>
              <a:rPr lang="pt-PT" b="1" i="1">
                <a:solidFill>
                  <a:srgbClr val="0D1C3D"/>
                </a:solidFill>
              </a:rPr>
              <a:t>(u,v)</a:t>
            </a:r>
          </a:p>
          <a:p>
            <a:endParaRPr lang="pt-PT"/>
          </a:p>
          <a:p>
            <a:r>
              <a:rPr lang="pt-PT"/>
              <a:t>Uses </a:t>
            </a:r>
            <a:r>
              <a:rPr lang="pt-PT" b="1" i="1">
                <a:solidFill>
                  <a:srgbClr val="0D1C3D"/>
                </a:solidFill>
              </a:rPr>
              <a:t>s</a:t>
            </a:r>
            <a:r>
              <a:rPr lang="pt-PT"/>
              <a:t> to cancel </a:t>
            </a:r>
            <a:r>
              <a:rPr lang="pt-PT" b="1" i="1">
                <a:solidFill>
                  <a:srgbClr val="0D1C3D"/>
                </a:solidFill>
              </a:rPr>
              <a:t>e</a:t>
            </a:r>
            <a:r>
              <a:rPr lang="pt-PT" b="1">
                <a:solidFill>
                  <a:srgbClr val="0D1C3D"/>
                </a:solidFill>
              </a:rPr>
              <a:t> </a:t>
            </a:r>
            <a:r>
              <a:rPr lang="pt-PT"/>
              <a:t>algebraically and recovers </a:t>
            </a:r>
            <a:r>
              <a:rPr lang="pt-PT" b="1" i="1">
                <a:solidFill>
                  <a:srgbClr val="0D1C3D"/>
                </a:solidFill>
              </a:rPr>
              <a:t>m</a:t>
            </a:r>
            <a:br>
              <a:rPr lang="pt-PT"/>
            </a:br>
            <a:br>
              <a:rPr lang="pt-PT"/>
            </a:br>
            <a:r>
              <a:rPr lang="pt-PT"/>
              <a:t>Derives same </a:t>
            </a:r>
            <a:r>
              <a:rPr lang="pt-PT" b="1" i="1">
                <a:solidFill>
                  <a:srgbClr val="0D1C3D"/>
                </a:solidFill>
              </a:rPr>
              <a:t>ss = KDF (m)</a:t>
            </a:r>
            <a:br>
              <a:rPr lang="pt-PT"/>
            </a:br>
            <a:br>
              <a:rPr lang="pt-PT"/>
            </a:br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6697583-9190-8A4A-977B-B8644429A924}"/>
              </a:ext>
            </a:extLst>
          </p:cNvPr>
          <p:cNvSpPr txBox="1"/>
          <p:nvPr/>
        </p:nvSpPr>
        <p:spPr>
          <a:xfrm>
            <a:off x="8162442" y="2703443"/>
            <a:ext cx="3220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0D1C3D"/>
                </a:solidFill>
              </a:rPr>
              <a:t>Bob</a:t>
            </a:r>
            <a:endParaRPr lang="pt-PT" b="1">
              <a:solidFill>
                <a:srgbClr val="0D1C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640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BF3E9E-3B97-547A-2A08-DD9C52E2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pt-PT" smtClean="0"/>
              <a:t>7</a:t>
            </a:fld>
            <a:endParaRPr lang="pt-PT"/>
          </a:p>
        </p:txBody>
      </p:sp>
      <p:pic>
        <p:nvPicPr>
          <p:cNvPr id="3074" name="Picture 2" descr="User - Free user icons">
            <a:extLst>
              <a:ext uri="{FF2B5EF4-FFF2-40B4-BE49-F238E27FC236}">
                <a16:creationId xmlns:a16="http://schemas.microsoft.com/office/drawing/2014/main" id="{DCFF8C18-DCBB-3D2E-A64E-26A7EE9F8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782" y="2544417"/>
            <a:ext cx="1005344" cy="10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Uma imagem com clipart, Desenho animado, Animação, ilustração&#10;&#10;Os conteúdos gerados por IA podem estar incorretos.">
            <a:extLst>
              <a:ext uri="{FF2B5EF4-FFF2-40B4-BE49-F238E27FC236}">
                <a16:creationId xmlns:a16="http://schemas.microsoft.com/office/drawing/2014/main" id="{D2D00FE1-FFC8-BB2B-723A-30E66F18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170" y="1183376"/>
            <a:ext cx="1005344" cy="1005344"/>
          </a:xfrm>
          <a:prstGeom prst="rect">
            <a:avLst/>
          </a:prstGeom>
        </p:spPr>
      </p:pic>
      <p:cxnSp>
        <p:nvCxnSpPr>
          <p:cNvPr id="5" name="Conexão reta unidirecional 4">
            <a:extLst>
              <a:ext uri="{FF2B5EF4-FFF2-40B4-BE49-F238E27FC236}">
                <a16:creationId xmlns:a16="http://schemas.microsoft.com/office/drawing/2014/main" id="{A1C28B09-5F05-CE6C-8B9E-EF36D2A2D3A3}"/>
              </a:ext>
            </a:extLst>
          </p:cNvPr>
          <p:cNvCxnSpPr>
            <a:cxnSpLocks/>
          </p:cNvCxnSpPr>
          <p:nvPr/>
        </p:nvCxnSpPr>
        <p:spPr>
          <a:xfrm flipH="1">
            <a:off x="3440132" y="1686048"/>
            <a:ext cx="4654031" cy="1196300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Imagem 8" descr="Uma imagem com clipart, Desenho animado, Animação, ilustração&#10;&#10;Os conteúdos gerados por IA podem estar incorretos.">
            <a:extLst>
              <a:ext uri="{FF2B5EF4-FFF2-40B4-BE49-F238E27FC236}">
                <a16:creationId xmlns:a16="http://schemas.microsoft.com/office/drawing/2014/main" id="{46A861AF-5375-672A-CF12-DD8E5D207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96" y="4242517"/>
            <a:ext cx="1005344" cy="1005344"/>
          </a:xfrm>
          <a:prstGeom prst="rect">
            <a:avLst/>
          </a:prstGeom>
        </p:spPr>
      </p:pic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5E458E86-3293-522A-B299-6B0F1528A89B}"/>
              </a:ext>
            </a:extLst>
          </p:cNvPr>
          <p:cNvCxnSpPr>
            <a:cxnSpLocks/>
          </p:cNvCxnSpPr>
          <p:nvPr/>
        </p:nvCxnSpPr>
        <p:spPr>
          <a:xfrm>
            <a:off x="3651371" y="3526900"/>
            <a:ext cx="4442792" cy="1084857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F454312-FA3E-BB1A-3C75-DACB4F5CBA65}"/>
              </a:ext>
            </a:extLst>
          </p:cNvPr>
          <p:cNvSpPr txBox="1"/>
          <p:nvPr/>
        </p:nvSpPr>
        <p:spPr>
          <a:xfrm>
            <a:off x="7405080" y="2221587"/>
            <a:ext cx="3225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Key Generation = pk, sk 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E634163-BF8C-DA2D-8E58-C8D728CE8F3B}"/>
              </a:ext>
            </a:extLst>
          </p:cNvPr>
          <p:cNvSpPr txBox="1"/>
          <p:nvPr/>
        </p:nvSpPr>
        <p:spPr>
          <a:xfrm rot="20741950">
            <a:off x="4651795" y="1745339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pK = (seed_A, t)</a:t>
            </a:r>
            <a:endParaRPr lang="pt-PT"/>
          </a:p>
          <a:p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D83D97C-0890-56E4-A282-C43737CB98A3}"/>
              </a:ext>
            </a:extLst>
          </p:cNvPr>
          <p:cNvSpPr txBox="1"/>
          <p:nvPr/>
        </p:nvSpPr>
        <p:spPr>
          <a:xfrm>
            <a:off x="9948863" y="855434"/>
            <a:ext cx="2441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sK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29" name="Imagem 28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E506B179-B648-069E-090E-99C43AECF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255" y="980809"/>
            <a:ext cx="757579" cy="757579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C7CCFFD0-045D-5CF7-3B2F-E20A012EEB5D}"/>
              </a:ext>
            </a:extLst>
          </p:cNvPr>
          <p:cNvSpPr txBox="1"/>
          <p:nvPr/>
        </p:nvSpPr>
        <p:spPr>
          <a:xfrm>
            <a:off x="983974" y="3607663"/>
            <a:ext cx="2908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Encapsulation = ct, ss_A 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31" name="Imagem 30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53C958D3-49B8-2D10-2DCF-6736E4725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24" y="2221587"/>
            <a:ext cx="757579" cy="757579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FCC551-B569-8F18-C470-3E5EA6419F58}"/>
              </a:ext>
            </a:extLst>
          </p:cNvPr>
          <p:cNvSpPr txBox="1"/>
          <p:nvPr/>
        </p:nvSpPr>
        <p:spPr>
          <a:xfrm>
            <a:off x="185388" y="2182287"/>
            <a:ext cx="2441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ss_A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D2967E9-1ED3-A860-F2A0-0030CBAD23F6}"/>
              </a:ext>
            </a:extLst>
          </p:cNvPr>
          <p:cNvSpPr txBox="1"/>
          <p:nvPr/>
        </p:nvSpPr>
        <p:spPr>
          <a:xfrm rot="757316">
            <a:off x="4870538" y="3652487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ct = (u, v)</a:t>
            </a:r>
            <a:endParaRPr lang="pt-PT"/>
          </a:p>
          <a:p>
            <a:endParaRPr lang="pt-PT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4E4251E-D9C1-17DB-3A14-54331822DD0F}"/>
              </a:ext>
            </a:extLst>
          </p:cNvPr>
          <p:cNvSpPr txBox="1"/>
          <p:nvPr/>
        </p:nvSpPr>
        <p:spPr>
          <a:xfrm>
            <a:off x="7796904" y="5256309"/>
            <a:ext cx="2441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Decapsulation = ss_B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8078BDA-CA4C-63AA-A1BF-1197A4EA8FED}"/>
              </a:ext>
            </a:extLst>
          </p:cNvPr>
          <p:cNvSpPr txBox="1"/>
          <p:nvPr/>
        </p:nvSpPr>
        <p:spPr>
          <a:xfrm>
            <a:off x="4870538" y="6122491"/>
            <a:ext cx="2441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/>
              <a:t>ss_A  == ss_B</a:t>
            </a:r>
          </a:p>
          <a:p>
            <a:endParaRPr lang="pt-PT"/>
          </a:p>
          <a:p>
            <a:endParaRPr lang="pt-PT"/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1D225555-DD90-6976-1021-C95AF666842D}"/>
              </a:ext>
            </a:extLst>
          </p:cNvPr>
          <p:cNvCxnSpPr/>
          <p:nvPr/>
        </p:nvCxnSpPr>
        <p:spPr>
          <a:xfrm flipV="1">
            <a:off x="8835887" y="2882348"/>
            <a:ext cx="0" cy="964095"/>
          </a:xfrm>
          <a:prstGeom prst="line">
            <a:avLst/>
          </a:prstGeom>
          <a:ln w="571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77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0C714-DA1B-137E-54A3-194E35E0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98E49CC8-790D-EA9E-A38F-A6545EE6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rtlCol="0" anchor="t">
            <a:normAutofit/>
          </a:bodyPr>
          <a:lstStyle/>
          <a:p>
            <a:pPr rtl="0"/>
            <a:r>
              <a:rPr lang="pt-PT">
                <a:latin typeface="Gill Sans Nova" panose="020B0602020104020203" pitchFamily="34" charset="0"/>
              </a:rPr>
              <a:t>The problem of Kyber  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2BCD978-D7B0-D983-C6DA-9B60B1FE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8</a:t>
            </a:fld>
            <a:endParaRPr lang="pt-PT"/>
          </a:p>
        </p:txBody>
      </p:sp>
      <p:pic>
        <p:nvPicPr>
          <p:cNvPr id="2" name="Picture 2" descr="User - Free user icons">
            <a:extLst>
              <a:ext uri="{FF2B5EF4-FFF2-40B4-BE49-F238E27FC236}">
                <a16:creationId xmlns:a16="http://schemas.microsoft.com/office/drawing/2014/main" id="{7A39B325-5FC4-3B90-F8C3-94F5D16A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492" y="2629325"/>
            <a:ext cx="1599350" cy="159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Uma imagem com clipart, Desenho animado, Animação, ilustração&#10;&#10;Os conteúdos gerados por IA podem estar incorretos.">
            <a:extLst>
              <a:ext uri="{FF2B5EF4-FFF2-40B4-BE49-F238E27FC236}">
                <a16:creationId xmlns:a16="http://schemas.microsoft.com/office/drawing/2014/main" id="{21ECC43E-6A9F-1555-8108-7A3D2CEC8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544" y="2629325"/>
            <a:ext cx="1599350" cy="1599350"/>
          </a:xfrm>
          <a:prstGeom prst="rect">
            <a:avLst/>
          </a:prstGeom>
        </p:spPr>
      </p:pic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04366F97-8BB4-2F0D-64E4-7054F11BFA2C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707842" y="3429000"/>
            <a:ext cx="4433702" cy="0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Imagem 9" descr="Uma imagem com texto, Tipo de letra, Gráficos, logótipo&#10;&#10;Os conteúdos gerados por IA podem estar incorretos.">
            <a:extLst>
              <a:ext uri="{FF2B5EF4-FFF2-40B4-BE49-F238E27FC236}">
                <a16:creationId xmlns:a16="http://schemas.microsoft.com/office/drawing/2014/main" id="{5A0F35F6-5D2C-91E3-7010-378AE1D09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210" y="2888973"/>
            <a:ext cx="930965" cy="930965"/>
          </a:xfrm>
          <a:prstGeom prst="rect">
            <a:avLst/>
          </a:prstGeom>
        </p:spPr>
      </p:pic>
      <p:pic>
        <p:nvPicPr>
          <p:cNvPr id="20" name="Imagem 19" descr="Uma imagem com clipart, Desenho animado, Gráficos, desenho&#10;&#10;Os conteúdos gerados por IA podem estar incorretos.">
            <a:extLst>
              <a:ext uri="{FF2B5EF4-FFF2-40B4-BE49-F238E27FC236}">
                <a16:creationId xmlns:a16="http://schemas.microsoft.com/office/drawing/2014/main" id="{A037F221-0981-9C9D-FB20-CACDC23BB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819" y="2084049"/>
            <a:ext cx="4876800" cy="4876800"/>
          </a:xfrm>
          <a:prstGeom prst="rect">
            <a:avLst/>
          </a:prstGeom>
        </p:spPr>
      </p:pic>
      <p:pic>
        <p:nvPicPr>
          <p:cNvPr id="21" name="Imagem 20" descr="Uma imagem com clipart, Desenho animado, Gráficos, desenho&#10;&#10;Os conteúdos gerados por IA podem estar incorretos.">
            <a:extLst>
              <a:ext uri="{FF2B5EF4-FFF2-40B4-BE49-F238E27FC236}">
                <a16:creationId xmlns:a16="http://schemas.microsoft.com/office/drawing/2014/main" id="{A037F221-0981-9C9D-FB20-CACDC23BB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687" y="4777092"/>
            <a:ext cx="1807064" cy="1807064"/>
          </a:xfrm>
          <a:prstGeom prst="rect">
            <a:avLst/>
          </a:prstGeom>
        </p:spPr>
      </p:pic>
      <p:pic>
        <p:nvPicPr>
          <p:cNvPr id="22" name="Imagem 21" descr="Uma imagem com texto, Tipo de letra, Gráficos, logótipo&#10;&#10;Os conteúdos gerados por IA podem estar incorretos.">
            <a:extLst>
              <a:ext uri="{FF2B5EF4-FFF2-40B4-BE49-F238E27FC236}">
                <a16:creationId xmlns:a16="http://schemas.microsoft.com/office/drawing/2014/main" id="{15427DCE-2659-CBBF-D965-7183CF6C3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089" y="5486399"/>
            <a:ext cx="930965" cy="9309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09F805C-F764-9D6C-878A-673BA06A4463}"/>
              </a:ext>
            </a:extLst>
          </p:cNvPr>
          <p:cNvSpPr txBox="1"/>
          <p:nvPr/>
        </p:nvSpPr>
        <p:spPr>
          <a:xfrm rot="20741950">
            <a:off x="7407208" y="4781354"/>
            <a:ext cx="30680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/>
              <a:t>MAN IN THE MIDDLE ATTACK!</a:t>
            </a:r>
            <a:endParaRPr lang="pt-PT" sz="2400"/>
          </a:p>
          <a:p>
            <a:endParaRPr lang="pt-PT"/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AEF367D8-5E72-7617-43D1-E11447C63CC2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860242" y="3581400"/>
            <a:ext cx="1992977" cy="1195692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72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A61B-7D26-602B-AC18-A3B29B41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2AC5882-F53D-DFB4-0F12-20A603BA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38824"/>
            <a:ext cx="11090274" cy="1332000"/>
          </a:xfrm>
        </p:spPr>
        <p:txBody>
          <a:bodyPr wrap="square" rtlCol="0" anchor="t">
            <a:normAutofit/>
          </a:bodyPr>
          <a:lstStyle/>
          <a:p>
            <a:pPr rtl="0"/>
            <a:r>
              <a:rPr lang="pt-PT">
                <a:latin typeface="Gill Sans Nova" panose="020B0602020104020203" pitchFamily="34" charset="0"/>
              </a:rPr>
              <a:t>EKE-Kyber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1F138C-C3AB-19B2-5079-570AA255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9</a:t>
            </a:fld>
            <a:endParaRPr lang="pt-PT"/>
          </a:p>
        </p:txBody>
      </p:sp>
      <p:pic>
        <p:nvPicPr>
          <p:cNvPr id="2" name="Picture 2" descr="User - Free user icons">
            <a:extLst>
              <a:ext uri="{FF2B5EF4-FFF2-40B4-BE49-F238E27FC236}">
                <a16:creationId xmlns:a16="http://schemas.microsoft.com/office/drawing/2014/main" id="{F0C75A78-CAED-DDA4-B256-5F5501816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782" y="2544417"/>
            <a:ext cx="1005344" cy="10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Uma imagem com clipart, Desenho animado, Animação, ilustração&#10;&#10;Os conteúdos gerados por IA podem estar incorretos.">
            <a:extLst>
              <a:ext uri="{FF2B5EF4-FFF2-40B4-BE49-F238E27FC236}">
                <a16:creationId xmlns:a16="http://schemas.microsoft.com/office/drawing/2014/main" id="{67C0790A-0420-CB14-C14C-4EDCD7CE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170" y="1183376"/>
            <a:ext cx="1005344" cy="1005344"/>
          </a:xfrm>
          <a:prstGeom prst="rect">
            <a:avLst/>
          </a:prstGeom>
        </p:spPr>
      </p:pic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3698A081-ED0E-889A-16F9-4D33EA726662}"/>
              </a:ext>
            </a:extLst>
          </p:cNvPr>
          <p:cNvCxnSpPr>
            <a:cxnSpLocks/>
          </p:cNvCxnSpPr>
          <p:nvPr/>
        </p:nvCxnSpPr>
        <p:spPr>
          <a:xfrm flipH="1">
            <a:off x="3440132" y="1686048"/>
            <a:ext cx="4654031" cy="1196300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" name="Imagem 18" descr="Uma imagem com clipart, Desenho animado, Animação, ilustração&#10;&#10;Os conteúdos gerados por IA podem estar incorretos.">
            <a:extLst>
              <a:ext uri="{FF2B5EF4-FFF2-40B4-BE49-F238E27FC236}">
                <a16:creationId xmlns:a16="http://schemas.microsoft.com/office/drawing/2014/main" id="{C3D33C82-B00F-2765-5788-8BC50945C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596" y="4242517"/>
            <a:ext cx="1005344" cy="1005344"/>
          </a:xfrm>
          <a:prstGeom prst="rect">
            <a:avLst/>
          </a:prstGeom>
        </p:spPr>
      </p:pic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A812980E-D3C7-BF3A-3DDE-4CAA99670797}"/>
              </a:ext>
            </a:extLst>
          </p:cNvPr>
          <p:cNvCxnSpPr>
            <a:cxnSpLocks/>
          </p:cNvCxnSpPr>
          <p:nvPr/>
        </p:nvCxnSpPr>
        <p:spPr>
          <a:xfrm>
            <a:off x="3651371" y="3526900"/>
            <a:ext cx="4442792" cy="1084857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9006311-CC07-9EF9-13DF-242E5A428EBC}"/>
              </a:ext>
            </a:extLst>
          </p:cNvPr>
          <p:cNvSpPr txBox="1"/>
          <p:nvPr/>
        </p:nvSpPr>
        <p:spPr>
          <a:xfrm>
            <a:off x="7403080" y="2252297"/>
            <a:ext cx="3225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pw_bob= PBKDF2(pw, salt)</a:t>
            </a:r>
            <a:br>
              <a:rPr lang="pt-PT" b="1"/>
            </a:br>
            <a:r>
              <a:rPr lang="pt-PT" b="1"/>
              <a:t>Key Generation = pk, sk 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D770091-49FD-8E31-10C5-588A56FA9D0E}"/>
              </a:ext>
            </a:extLst>
          </p:cNvPr>
          <p:cNvSpPr txBox="1"/>
          <p:nvPr/>
        </p:nvSpPr>
        <p:spPr>
          <a:xfrm rot="20741950">
            <a:off x="4651795" y="1745339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pK = (seed_A, t)</a:t>
            </a:r>
            <a:endParaRPr lang="pt-PT"/>
          </a:p>
          <a:p>
            <a:endParaRPr lang="pt-PT"/>
          </a:p>
        </p:txBody>
      </p:sp>
      <p:pic>
        <p:nvPicPr>
          <p:cNvPr id="27" name="Imagem 26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5597504D-E7A9-405E-099C-25BDBF4A2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9956" y="1113245"/>
            <a:ext cx="757579" cy="757579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ADF00239-3CAA-5C5A-0B6E-1B87A7B0C841}"/>
              </a:ext>
            </a:extLst>
          </p:cNvPr>
          <p:cNvSpPr txBox="1"/>
          <p:nvPr/>
        </p:nvSpPr>
        <p:spPr>
          <a:xfrm>
            <a:off x="957998" y="3624035"/>
            <a:ext cx="33586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pw_alice = PBKDF2(pw, salt)</a:t>
            </a:r>
            <a:br>
              <a:rPr lang="pt-PT" b="1"/>
            </a:br>
            <a:br>
              <a:rPr lang="pt-PT" b="1"/>
            </a:br>
            <a:r>
              <a:rPr lang="pt-PT" b="1"/>
              <a:t>Alice recovers pk if pw_alice matches pw_bob</a:t>
            </a:r>
            <a:br>
              <a:rPr lang="pt-PT" b="1"/>
            </a:br>
            <a:br>
              <a:rPr lang="pt-PT" b="1"/>
            </a:br>
            <a:r>
              <a:rPr lang="pt-PT" b="1"/>
              <a:t>Encapsulation = ct, ss_A </a:t>
            </a:r>
          </a:p>
          <a:p>
            <a:endParaRPr lang="pt-PT"/>
          </a:p>
          <a:p>
            <a:endParaRPr lang="pt-PT"/>
          </a:p>
        </p:txBody>
      </p:sp>
      <p:pic>
        <p:nvPicPr>
          <p:cNvPr id="29" name="Imagem 28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AF8DCFE7-8326-384B-EE5D-6BBF239F2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21" y="2007735"/>
            <a:ext cx="757579" cy="757579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4A565231-12BE-BCE0-0175-93491EFE16EB}"/>
              </a:ext>
            </a:extLst>
          </p:cNvPr>
          <p:cNvSpPr txBox="1"/>
          <p:nvPr/>
        </p:nvSpPr>
        <p:spPr>
          <a:xfrm>
            <a:off x="9948863" y="705910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solidFill>
                  <a:srgbClr val="00B0F0"/>
                </a:solidFill>
              </a:rPr>
              <a:t>pw = password</a:t>
            </a:r>
            <a:endParaRPr lang="pt-PT">
              <a:solidFill>
                <a:srgbClr val="00B0F0"/>
              </a:solidFill>
            </a:endParaRPr>
          </a:p>
          <a:p>
            <a:endParaRPr lang="pt-PT">
              <a:solidFill>
                <a:srgbClr val="00B0F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9449D4A-2F01-0217-46EB-FD698CA172C5}"/>
              </a:ext>
            </a:extLst>
          </p:cNvPr>
          <p:cNvSpPr txBox="1"/>
          <p:nvPr/>
        </p:nvSpPr>
        <p:spPr>
          <a:xfrm>
            <a:off x="7796904" y="5256309"/>
            <a:ext cx="2441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Decapsulation = ss_B</a:t>
            </a:r>
          </a:p>
          <a:p>
            <a:endParaRPr lang="pt-PT"/>
          </a:p>
          <a:p>
            <a:endParaRPr lang="pt-PT"/>
          </a:p>
        </p:txBody>
      </p:sp>
      <p:cxnSp>
        <p:nvCxnSpPr>
          <p:cNvPr id="32" name="Conexão reta 31">
            <a:extLst>
              <a:ext uri="{FF2B5EF4-FFF2-40B4-BE49-F238E27FC236}">
                <a16:creationId xmlns:a16="http://schemas.microsoft.com/office/drawing/2014/main" id="{F546F771-6DD7-A220-82F4-EC59C8A550D2}"/>
              </a:ext>
            </a:extLst>
          </p:cNvPr>
          <p:cNvCxnSpPr/>
          <p:nvPr/>
        </p:nvCxnSpPr>
        <p:spPr>
          <a:xfrm flipV="1">
            <a:off x="8835887" y="2882348"/>
            <a:ext cx="0" cy="964095"/>
          </a:xfrm>
          <a:prstGeom prst="line">
            <a:avLst/>
          </a:prstGeom>
          <a:ln w="571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5798088-42E8-53D2-068A-8B11CBB515AB}"/>
              </a:ext>
            </a:extLst>
          </p:cNvPr>
          <p:cNvSpPr txBox="1"/>
          <p:nvPr/>
        </p:nvSpPr>
        <p:spPr>
          <a:xfrm rot="757316">
            <a:off x="5022938" y="3804887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ct = (u, v)</a:t>
            </a:r>
            <a:endParaRPr lang="pt-PT"/>
          </a:p>
          <a:p>
            <a:endParaRPr lang="pt-PT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6954CAE-65C2-0E1F-A4F9-CA2B76FE6C18}"/>
              </a:ext>
            </a:extLst>
          </p:cNvPr>
          <p:cNvSpPr txBox="1"/>
          <p:nvPr/>
        </p:nvSpPr>
        <p:spPr>
          <a:xfrm>
            <a:off x="384544" y="1637867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solidFill>
                  <a:srgbClr val="00B0F0"/>
                </a:solidFill>
              </a:rPr>
              <a:t>pw = password</a:t>
            </a:r>
            <a:endParaRPr lang="pt-PT">
              <a:solidFill>
                <a:srgbClr val="00B0F0"/>
              </a:solidFill>
            </a:endParaRPr>
          </a:p>
          <a:p>
            <a:endParaRPr lang="pt-PT">
              <a:solidFill>
                <a:srgbClr val="00B0F0"/>
              </a:solidFill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CA88668-4EAF-9FB9-6A80-256638F42AC7}"/>
              </a:ext>
            </a:extLst>
          </p:cNvPr>
          <p:cNvSpPr/>
          <p:nvPr/>
        </p:nvSpPr>
        <p:spPr>
          <a:xfrm rot="20684732">
            <a:off x="4570799" y="1779696"/>
            <a:ext cx="2168683" cy="42014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9C74159-6ECE-8151-8C36-78B44FD9FC0E}"/>
              </a:ext>
            </a:extLst>
          </p:cNvPr>
          <p:cNvSpPr txBox="1"/>
          <p:nvPr/>
        </p:nvSpPr>
        <p:spPr>
          <a:xfrm rot="20812807">
            <a:off x="6693644" y="1314701"/>
            <a:ext cx="244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solidFill>
                  <a:srgbClr val="00B0F0"/>
                </a:solidFill>
              </a:rPr>
              <a:t>pw_bob</a:t>
            </a:r>
            <a:endParaRPr lang="pt-PT">
              <a:solidFill>
                <a:srgbClr val="00B0F0"/>
              </a:solidFill>
            </a:endParaRPr>
          </a:p>
          <a:p>
            <a:endParaRPr lang="pt-PT">
              <a:solidFill>
                <a:srgbClr val="00B0F0"/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DCE0F53-D57A-2482-A851-AA563059A171}"/>
              </a:ext>
            </a:extLst>
          </p:cNvPr>
          <p:cNvSpPr txBox="1"/>
          <p:nvPr/>
        </p:nvSpPr>
        <p:spPr>
          <a:xfrm>
            <a:off x="4870538" y="6122491"/>
            <a:ext cx="2441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/>
              <a:t>ss_A  == ss_B</a:t>
            </a:r>
          </a:p>
          <a:p>
            <a:endParaRPr lang="pt-PT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811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AF9A883-CC44-4401-AE67-8FCEACB7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10</a:t>
            </a:fld>
            <a:endParaRPr lang="pt-PT"/>
          </a:p>
        </p:txBody>
      </p:sp>
      <p:sp>
        <p:nvSpPr>
          <p:cNvPr id="33" name="Título 10">
            <a:extLst>
              <a:ext uri="{FF2B5EF4-FFF2-40B4-BE49-F238E27FC236}">
                <a16:creationId xmlns:a16="http://schemas.microsoft.com/office/drawing/2014/main" id="{904F49F9-9FC4-FC8F-F178-1D9CD8DC4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5006" y="2802731"/>
            <a:ext cx="8281988" cy="1252538"/>
          </a:xfrm>
        </p:spPr>
        <p:txBody>
          <a:bodyPr wrap="square" rtlCol="0" anchor="t">
            <a:normAutofit/>
          </a:bodyPr>
          <a:lstStyle/>
          <a:p>
            <a:pPr algn="ctr" rtl="0"/>
            <a:r>
              <a:rPr lang="pt-PT" sz="8000">
                <a:latin typeface="Gill Sans Nova" panose="020B0602020104020203" pitchFamily="34" charset="0"/>
              </a:rPr>
              <a:t>DEMO</a:t>
            </a:r>
            <a:endParaRPr lang="pt-PT">
              <a:latin typeface="Gill Sans Nova" panose="020B0602020104020203" pitchFamily="34" charset="0"/>
            </a:endParaRPr>
          </a:p>
        </p:txBody>
      </p:sp>
      <p:pic>
        <p:nvPicPr>
          <p:cNvPr id="52" name="Imagem 51" descr="Uma imagem com círculo, Gráficos, arte, clipart&#10;&#10;Os conteúdos gerados por IA podem estar incorretos.">
            <a:extLst>
              <a:ext uri="{FF2B5EF4-FFF2-40B4-BE49-F238E27FC236}">
                <a16:creationId xmlns:a16="http://schemas.microsoft.com/office/drawing/2014/main" id="{D7769149-891B-6B36-013D-CCE8465E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569" y="4166291"/>
            <a:ext cx="1692274" cy="1692274"/>
          </a:xfrm>
          <a:prstGeom prst="rect">
            <a:avLst/>
          </a:prstGeom>
        </p:spPr>
      </p:pic>
      <p:pic>
        <p:nvPicPr>
          <p:cNvPr id="54" name="Imagem 53" descr="Uma imagem com captura de ecrã, clipart, design&#10;&#10;Os conteúdos gerados por IA podem estar incorretos.">
            <a:extLst>
              <a:ext uri="{FF2B5EF4-FFF2-40B4-BE49-F238E27FC236}">
                <a16:creationId xmlns:a16="http://schemas.microsoft.com/office/drawing/2014/main" id="{9C1AA3CA-F5F9-8327-3638-D84893B1C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047" y="625958"/>
            <a:ext cx="1505917" cy="150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76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14E33-E658-C593-E652-3312F095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381033-0FAE-5578-78D4-CDCAF1F5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PT" smtClean="0"/>
              <a:pPr rtl="0">
                <a:spcAft>
                  <a:spcPts val="600"/>
                </a:spcAft>
              </a:pPr>
              <a:t>11</a:t>
            </a:fld>
            <a:endParaRPr lang="pt-PT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9A964E85-8529-1BD2-C71E-972CC91021BA}"/>
              </a:ext>
            </a:extLst>
          </p:cNvPr>
          <p:cNvGrpSpPr/>
          <p:nvPr/>
        </p:nvGrpSpPr>
        <p:grpSpPr>
          <a:xfrm>
            <a:off x="809280" y="1881275"/>
            <a:ext cx="3220278" cy="4151934"/>
            <a:chOff x="680075" y="1881275"/>
            <a:chExt cx="3220278" cy="415193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AB7D2A43-E6ED-99A2-37B7-2BD5516AFD35}"/>
                </a:ext>
              </a:extLst>
            </p:cNvPr>
            <p:cNvSpPr>
              <a:spLocks/>
            </p:cNvSpPr>
            <p:nvPr/>
          </p:nvSpPr>
          <p:spPr>
            <a:xfrm>
              <a:off x="680075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F2E273C-6908-1315-17F3-3CADAC6150A3}"/>
                </a:ext>
              </a:extLst>
            </p:cNvPr>
            <p:cNvSpPr>
              <a:spLocks/>
            </p:cNvSpPr>
            <p:nvPr/>
          </p:nvSpPr>
          <p:spPr>
            <a:xfrm>
              <a:off x="680075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/>
                <a:t>What was achieved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7C24E36-C1C1-F1E6-EBA2-EA91D362A3CB}"/>
              </a:ext>
            </a:extLst>
          </p:cNvPr>
          <p:cNvGrpSpPr/>
          <p:nvPr/>
        </p:nvGrpSpPr>
        <p:grpSpPr>
          <a:xfrm>
            <a:off x="4485861" y="1881275"/>
            <a:ext cx="3220278" cy="4151934"/>
            <a:chOff x="4365832" y="1881275"/>
            <a:chExt cx="3220278" cy="4151934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6E5CFF02-D34F-B547-A60C-2CB6319BBB63}"/>
                </a:ext>
              </a:extLst>
            </p:cNvPr>
            <p:cNvSpPr>
              <a:spLocks/>
            </p:cNvSpPr>
            <p:nvPr/>
          </p:nvSpPr>
          <p:spPr>
            <a:xfrm>
              <a:off x="4365832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A45D9CFC-D9D3-95BC-362E-EC9D2B3811A8}"/>
                </a:ext>
              </a:extLst>
            </p:cNvPr>
            <p:cNvSpPr>
              <a:spLocks/>
            </p:cNvSpPr>
            <p:nvPr/>
          </p:nvSpPr>
          <p:spPr>
            <a:xfrm>
              <a:off x="4365832" y="1883464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/>
                <a:t>Limitations</a:t>
              </a:r>
              <a:endParaRPr lang="pt-PT" b="1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3599A18-B34D-C310-2D65-DBF0E3B3EE82}"/>
              </a:ext>
            </a:extLst>
          </p:cNvPr>
          <p:cNvGrpSpPr/>
          <p:nvPr/>
        </p:nvGrpSpPr>
        <p:grpSpPr>
          <a:xfrm>
            <a:off x="8162442" y="1881275"/>
            <a:ext cx="3220278" cy="4151934"/>
            <a:chOff x="8192259" y="1881275"/>
            <a:chExt cx="3220278" cy="415193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77E34D42-7B25-D8CE-B665-A2B6522EB873}"/>
                </a:ext>
              </a:extLst>
            </p:cNvPr>
            <p:cNvSpPr>
              <a:spLocks/>
            </p:cNvSpPr>
            <p:nvPr/>
          </p:nvSpPr>
          <p:spPr>
            <a:xfrm>
              <a:off x="8192259" y="1881275"/>
              <a:ext cx="3220278" cy="41519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D590E33C-D96D-8BEF-2DBB-F81B8B928683}"/>
                </a:ext>
              </a:extLst>
            </p:cNvPr>
            <p:cNvSpPr>
              <a:spLocks/>
            </p:cNvSpPr>
            <p:nvPr/>
          </p:nvSpPr>
          <p:spPr>
            <a:xfrm>
              <a:off x="8192259" y="1881275"/>
              <a:ext cx="3220278" cy="7056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/>
                <a:t>Future Work</a:t>
              </a:r>
            </a:p>
          </p:txBody>
        </p: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DC398BC-D2E8-4F3B-8D50-5B6DAB0DB7E0}"/>
              </a:ext>
            </a:extLst>
          </p:cNvPr>
          <p:cNvSpPr txBox="1"/>
          <p:nvPr/>
        </p:nvSpPr>
        <p:spPr>
          <a:xfrm>
            <a:off x="809280" y="2896356"/>
            <a:ext cx="32202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Studied and implementd CRYSTALS –Kyber</a:t>
            </a:r>
            <a:endParaRPr lang="pt-PT" b="1" i="1">
              <a:solidFill>
                <a:srgbClr val="161E42"/>
              </a:solidFill>
            </a:endParaRPr>
          </a:p>
          <a:p>
            <a:endParaRPr lang="pt-PT" b="1"/>
          </a:p>
          <a:p>
            <a:r>
              <a:rPr lang="pt-PT" b="1"/>
              <a:t>Proposed and implemented EKE-Kyber protocol</a:t>
            </a:r>
            <a:br>
              <a:rPr lang="pt-PT" b="1"/>
            </a:br>
            <a:br>
              <a:rPr lang="pt-PT" b="1"/>
            </a:br>
            <a:r>
              <a:rPr lang="pt-PT" b="1"/>
              <a:t>Validated authentication through password</a:t>
            </a:r>
          </a:p>
          <a:p>
            <a:endParaRPr lang="pt-PT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B77CEAB-27C5-41F5-E0D6-1EA441D95847}"/>
              </a:ext>
            </a:extLst>
          </p:cNvPr>
          <p:cNvSpPr txBox="1"/>
          <p:nvPr/>
        </p:nvSpPr>
        <p:spPr>
          <a:xfrm>
            <a:off x="8162442" y="3060957"/>
            <a:ext cx="3220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Formal Security Analysis</a:t>
            </a:r>
            <a:br>
              <a:rPr lang="pt-PT" b="1"/>
            </a:br>
            <a:endParaRPr lang="pt-PT" b="1"/>
          </a:p>
          <a:p>
            <a:r>
              <a:rPr lang="pt-PT" b="1"/>
              <a:t>Side-channel resistant implementation</a:t>
            </a:r>
          </a:p>
          <a:p>
            <a:endParaRPr lang="pt-PT" b="1"/>
          </a:p>
          <a:p>
            <a:r>
              <a:rPr lang="pt-PT" b="1"/>
              <a:t>Integration in a real protocol (ex: TLS) </a:t>
            </a:r>
            <a:r>
              <a:rPr lang="pt-PT"/>
              <a:t>		</a:t>
            </a:r>
          </a:p>
        </p:txBody>
      </p:sp>
      <p:sp>
        <p:nvSpPr>
          <p:cNvPr id="5" name="Título 10">
            <a:extLst>
              <a:ext uri="{FF2B5EF4-FFF2-40B4-BE49-F238E27FC236}">
                <a16:creationId xmlns:a16="http://schemas.microsoft.com/office/drawing/2014/main" id="{F21267B5-FFE4-D9F9-87A5-1561DA8F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38824"/>
            <a:ext cx="11090274" cy="1332000"/>
          </a:xfrm>
        </p:spPr>
        <p:txBody>
          <a:bodyPr wrap="square" rtlCol="0" anchor="t">
            <a:normAutofit/>
          </a:bodyPr>
          <a:lstStyle/>
          <a:p>
            <a:pPr rtl="0"/>
            <a:r>
              <a:rPr lang="pt-PT">
                <a:latin typeface="Gill Sans Nova" panose="020B0602020104020203" pitchFamily="34" charset="0"/>
              </a:rPr>
              <a:t>Conclusion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DA3254-EB58-013D-55BE-FE534004606C}"/>
              </a:ext>
            </a:extLst>
          </p:cNvPr>
          <p:cNvSpPr txBox="1"/>
          <p:nvPr/>
        </p:nvSpPr>
        <p:spPr>
          <a:xfrm>
            <a:off x="4562061" y="3126604"/>
            <a:ext cx="3220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/>
              <a:t>Security depends on password strength</a:t>
            </a:r>
            <a:br>
              <a:rPr lang="pt-PT" b="1"/>
            </a:br>
            <a:br>
              <a:rPr lang="pt-PT" b="1"/>
            </a:br>
            <a:r>
              <a:rPr lang="pt-PT" b="1"/>
              <a:t>No side-channel resistance</a:t>
            </a:r>
            <a:br>
              <a:rPr lang="pt-PT" b="1"/>
            </a:br>
            <a:br>
              <a:rPr lang="pt-PT" b="1"/>
            </a:br>
            <a:r>
              <a:rPr lang="pt-PT" b="1"/>
              <a:t>No formal security proof</a:t>
            </a:r>
            <a:r>
              <a:rPr lang="pt-PT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78767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48" y="551465"/>
            <a:ext cx="5437187" cy="2986234"/>
          </a:xfrm>
        </p:spPr>
        <p:txBody>
          <a:bodyPr rtlCol="0"/>
          <a:lstStyle/>
          <a:p>
            <a:r>
              <a:rPr lang="pt-PT" sz="8000">
                <a:latin typeface="Gill Sans Nova" panose="020B0602020104020203" pitchFamily="34" charset="0"/>
              </a:rPr>
              <a:t>Thank you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12</a:t>
            </a:fld>
            <a:endParaRPr lang="pt-PT"/>
          </a:p>
        </p:txBody>
      </p:sp>
      <p:pic>
        <p:nvPicPr>
          <p:cNvPr id="12" name="Imagem 11" descr="Uma imagem com captura de ecrã, Retângulo, logótipo, símbolo&#10;&#10;Os conteúdos gerados por IA podem estar incorretos.">
            <a:extLst>
              <a:ext uri="{FF2B5EF4-FFF2-40B4-BE49-F238E27FC236}">
                <a16:creationId xmlns:a16="http://schemas.microsoft.com/office/drawing/2014/main" id="{E45E24D9-4D50-AEAA-DA9C-6776C5816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87" y="2044582"/>
            <a:ext cx="2768835" cy="276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utuante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553.tgt.Office_50301373_TF33713516_Win32_OJ112196127.potx" id="{9ECCF92E-9E19-439F-A6B8-9ED18F9821B1}" vid="{432D6865-D7AE-43A6-8BE6-0832ED77F17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</TotalTime>
  <Words>495</Words>
  <Application>Microsoft Office PowerPoint</Application>
  <PresentationFormat>Ecrã Panorâmico</PresentationFormat>
  <Paragraphs>106</Paragraphs>
  <Slides>12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Gill Sans Nova</vt:lpstr>
      <vt:lpstr>Walbaum Display</vt:lpstr>
      <vt:lpstr>3DFlutuanteVTI</vt:lpstr>
      <vt:lpstr>Understanding and Implementing Authenticated Post-Quantum Key Exchange </vt:lpstr>
      <vt:lpstr>Objectives of this Work</vt:lpstr>
      <vt:lpstr>Motivation</vt:lpstr>
      <vt:lpstr>CRYSTALS - Kyber</vt:lpstr>
      <vt:lpstr>Mathematical Structure of Kyber</vt:lpstr>
      <vt:lpstr>Kyber - Overview</vt:lpstr>
      <vt:lpstr>Apresentação do PowerPoint</vt:lpstr>
      <vt:lpstr>The problem of Kyber  </vt:lpstr>
      <vt:lpstr>EKE-Kyber</vt:lpstr>
      <vt:lpstr>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Inês Martins Ribeiro</dc:creator>
  <cp:lastModifiedBy>Inês Martins Ribeiro</cp:lastModifiedBy>
  <cp:revision>2</cp:revision>
  <dcterms:created xsi:type="dcterms:W3CDTF">2026-02-23T15:45:44Z</dcterms:created>
  <dcterms:modified xsi:type="dcterms:W3CDTF">2026-02-24T21:49:32Z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